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Open Sauce" charset="1" panose="00000500000000000000"/>
      <p:regular r:id="rId9"/>
    </p:embeddedFont>
    <p:embeddedFont>
      <p:font typeface="Open Sauce Bold" charset="1" panose="000008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58" y="-698443"/>
            <a:ext cx="1396886" cy="139688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83507" y="6311028"/>
            <a:ext cx="1396886" cy="139688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7194" y="9528902"/>
            <a:ext cx="2843208" cy="28432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883433" y="4489895"/>
            <a:ext cx="1766866" cy="969568"/>
          </a:xfrm>
          <a:custGeom>
            <a:avLst/>
            <a:gdLst/>
            <a:ahLst/>
            <a:cxnLst/>
            <a:rect r="r" b="b" t="t" l="l"/>
            <a:pathLst>
              <a:path h="969568" w="1766866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8597549" y="7890083"/>
            <a:ext cx="1766866" cy="969568"/>
          </a:xfrm>
          <a:custGeom>
            <a:avLst/>
            <a:gdLst/>
            <a:ahLst/>
            <a:cxnLst/>
            <a:rect r="r" b="b" t="t" l="l"/>
            <a:pathLst>
              <a:path h="969568" w="1766866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645944" y="-1278586"/>
            <a:ext cx="3352813" cy="12844173"/>
            <a:chOff x="0" y="0"/>
            <a:chExt cx="883046" cy="33828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3046" cy="3382827"/>
            </a:xfrm>
            <a:custGeom>
              <a:avLst/>
              <a:gdLst/>
              <a:ahLst/>
              <a:cxnLst/>
              <a:rect r="r" b="b" t="t" l="l"/>
              <a:pathLst>
                <a:path h="3382827" w="883046">
                  <a:moveTo>
                    <a:pt x="117763" y="0"/>
                  </a:moveTo>
                  <a:lnTo>
                    <a:pt x="765282" y="0"/>
                  </a:lnTo>
                  <a:cubicBezTo>
                    <a:pt x="830321" y="0"/>
                    <a:pt x="883046" y="52724"/>
                    <a:pt x="883046" y="117763"/>
                  </a:cubicBezTo>
                  <a:lnTo>
                    <a:pt x="883046" y="3265064"/>
                  </a:lnTo>
                  <a:cubicBezTo>
                    <a:pt x="883046" y="3296297"/>
                    <a:pt x="870638" y="3326250"/>
                    <a:pt x="848554" y="3348335"/>
                  </a:cubicBezTo>
                  <a:cubicBezTo>
                    <a:pt x="826469" y="3370420"/>
                    <a:pt x="796515" y="3382827"/>
                    <a:pt x="765282" y="3382827"/>
                  </a:cubicBezTo>
                  <a:lnTo>
                    <a:pt x="117763" y="3382827"/>
                  </a:lnTo>
                  <a:cubicBezTo>
                    <a:pt x="52724" y="3382827"/>
                    <a:pt x="0" y="3330103"/>
                    <a:pt x="0" y="3265064"/>
                  </a:cubicBezTo>
                  <a:lnTo>
                    <a:pt x="0" y="117763"/>
                  </a:lnTo>
                  <a:cubicBezTo>
                    <a:pt x="0" y="52724"/>
                    <a:pt x="52724" y="0"/>
                    <a:pt x="117763" y="0"/>
                  </a:cubicBezTo>
                  <a:close/>
                </a:path>
              </a:pathLst>
            </a:custGeom>
            <a:solidFill>
              <a:srgbClr val="3972F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83046" cy="3420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449172" y="684491"/>
            <a:ext cx="2955744" cy="1477872"/>
          </a:xfrm>
          <a:custGeom>
            <a:avLst/>
            <a:gdLst/>
            <a:ahLst/>
            <a:cxnLst/>
            <a:rect r="r" b="b" t="t" l="l"/>
            <a:pathLst>
              <a:path h="1477872" w="2955744">
                <a:moveTo>
                  <a:pt x="0" y="0"/>
                </a:moveTo>
                <a:lnTo>
                  <a:pt x="2955744" y="0"/>
                </a:lnTo>
                <a:lnTo>
                  <a:pt x="2955744" y="1477872"/>
                </a:lnTo>
                <a:lnTo>
                  <a:pt x="0" y="1477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67271" y="990600"/>
            <a:ext cx="2417222" cy="82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2"/>
              </a:lnSpc>
            </a:pPr>
            <a:r>
              <a:rPr lang="en-US" sz="2401">
                <a:solidFill>
                  <a:srgbClr val="707070"/>
                </a:solidFill>
                <a:latin typeface="Open Sauce"/>
                <a:ea typeface="Open Sauce"/>
                <a:cs typeface="Open Sauce"/>
                <a:sym typeface="Open Sauce"/>
              </a:rPr>
              <a:t>PALACIO DE HIERRO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9002" y="2338887"/>
            <a:ext cx="4964854" cy="64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67" spc="-23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1) Hallazgo</a:t>
            </a:r>
          </a:p>
          <a:p>
            <a:pPr algn="l">
              <a:lnSpc>
                <a:spcPts val="4714"/>
              </a:lnSpc>
            </a:pPr>
          </a:p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Marketplace tuve un considerable aumente de tasa de cancelaciones en Mayo a comparación de otros meses esto pudo ser debido a algún fallo operativo o tecnológico, se debe hacer un analisis particular a este echo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06021" y="1733138"/>
            <a:ext cx="4964854" cy="64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2)</a:t>
            </a: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Hallazgo</a:t>
            </a:r>
          </a:p>
          <a:p>
            <a:pPr algn="l" marL="0" indent="0" lvl="0">
              <a:lnSpc>
                <a:spcPts val="4714"/>
              </a:lnSpc>
            </a:pPr>
          </a:p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categoría Electrónica lidera el ingreso neto de forma continua entre enero y junio de 2026,</a:t>
            </a:r>
          </a:p>
          <a:p>
            <a:pPr algn="l" marL="0" indent="0" lvl="0">
              <a:lnSpc>
                <a:spcPts val="4714"/>
              </a:lnSpc>
            </a:pPr>
          </a:p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Es nuestra categoria mas importante y de la que dependen la mayoria de ingresos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86327" y="1179366"/>
            <a:ext cx="4964854" cy="823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3)</a:t>
            </a: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Hallazgo</a:t>
            </a:r>
          </a:p>
          <a:p>
            <a:pPr algn="l" marL="0" indent="0" lvl="0">
              <a:lnSpc>
                <a:spcPts val="4714"/>
              </a:lnSpc>
            </a:pPr>
          </a:p>
          <a:p>
            <a:pPr algn="l" marL="0" indent="0" lvl="0">
              <a:lnSpc>
                <a:spcPts val="4294"/>
              </a:lnSpc>
            </a:pPr>
            <a:r>
              <a:rPr lang="en-US" b="true" sz="3067" spc="-21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volumen total de órdenes completadas creció un 62.07% (de 145 en enero a 235 en junio de 2026). Sin embargo, el ticket promedio cayó un 6.17% en el mismo periodo (pasando de $1,131.59 a $1,061.74)</a:t>
            </a:r>
          </a:p>
          <a:p>
            <a:pPr algn="l" marL="0" indent="0" lvl="0">
              <a:lnSpc>
                <a:spcPts val="4294"/>
              </a:lnSpc>
            </a:pPr>
          </a:p>
          <a:p>
            <a:pPr algn="l" marL="0" indent="0" lvl="0">
              <a:lnSpc>
                <a:spcPts val="4294"/>
              </a:lnSpc>
            </a:pPr>
            <a:r>
              <a:rPr lang="en-US" b="true" sz="3067" spc="-21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Implica que los clientes comprar mas pero gastan menos dinero en promedio por compra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58" y="-698443"/>
            <a:ext cx="1396886" cy="139688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83507" y="6311028"/>
            <a:ext cx="1396886" cy="139688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7194" y="9528902"/>
            <a:ext cx="2843208" cy="28432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883433" y="4489895"/>
            <a:ext cx="1766866" cy="969568"/>
          </a:xfrm>
          <a:custGeom>
            <a:avLst/>
            <a:gdLst/>
            <a:ahLst/>
            <a:cxnLst/>
            <a:rect r="r" b="b" t="t" l="l"/>
            <a:pathLst>
              <a:path h="969568" w="1766866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8597549" y="7890083"/>
            <a:ext cx="1766866" cy="969568"/>
          </a:xfrm>
          <a:custGeom>
            <a:avLst/>
            <a:gdLst/>
            <a:ahLst/>
            <a:cxnLst/>
            <a:rect r="r" b="b" t="t" l="l"/>
            <a:pathLst>
              <a:path h="969568" w="1766866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645944" y="-1278586"/>
            <a:ext cx="3352813" cy="12844173"/>
            <a:chOff x="0" y="0"/>
            <a:chExt cx="883046" cy="33828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3046" cy="3382827"/>
            </a:xfrm>
            <a:custGeom>
              <a:avLst/>
              <a:gdLst/>
              <a:ahLst/>
              <a:cxnLst/>
              <a:rect r="r" b="b" t="t" l="l"/>
              <a:pathLst>
                <a:path h="3382827" w="883046">
                  <a:moveTo>
                    <a:pt x="117763" y="0"/>
                  </a:moveTo>
                  <a:lnTo>
                    <a:pt x="765282" y="0"/>
                  </a:lnTo>
                  <a:cubicBezTo>
                    <a:pt x="830321" y="0"/>
                    <a:pt x="883046" y="52724"/>
                    <a:pt x="883046" y="117763"/>
                  </a:cubicBezTo>
                  <a:lnTo>
                    <a:pt x="883046" y="3265064"/>
                  </a:lnTo>
                  <a:cubicBezTo>
                    <a:pt x="883046" y="3296297"/>
                    <a:pt x="870638" y="3326250"/>
                    <a:pt x="848554" y="3348335"/>
                  </a:cubicBezTo>
                  <a:cubicBezTo>
                    <a:pt x="826469" y="3370420"/>
                    <a:pt x="796515" y="3382827"/>
                    <a:pt x="765282" y="3382827"/>
                  </a:cubicBezTo>
                  <a:lnTo>
                    <a:pt x="117763" y="3382827"/>
                  </a:lnTo>
                  <a:cubicBezTo>
                    <a:pt x="52724" y="3382827"/>
                    <a:pt x="0" y="3330103"/>
                    <a:pt x="0" y="3265064"/>
                  </a:cubicBezTo>
                  <a:lnTo>
                    <a:pt x="0" y="117763"/>
                  </a:lnTo>
                  <a:cubicBezTo>
                    <a:pt x="0" y="52724"/>
                    <a:pt x="52724" y="0"/>
                    <a:pt x="117763" y="0"/>
                  </a:cubicBezTo>
                  <a:close/>
                </a:path>
              </a:pathLst>
            </a:custGeom>
            <a:solidFill>
              <a:srgbClr val="3972F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83046" cy="3420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449172" y="684491"/>
            <a:ext cx="2955744" cy="1477872"/>
          </a:xfrm>
          <a:custGeom>
            <a:avLst/>
            <a:gdLst/>
            <a:ahLst/>
            <a:cxnLst/>
            <a:rect r="r" b="b" t="t" l="l"/>
            <a:pathLst>
              <a:path h="1477872" w="2955744">
                <a:moveTo>
                  <a:pt x="0" y="0"/>
                </a:moveTo>
                <a:lnTo>
                  <a:pt x="2955744" y="0"/>
                </a:lnTo>
                <a:lnTo>
                  <a:pt x="2955744" y="1477872"/>
                </a:lnTo>
                <a:lnTo>
                  <a:pt x="0" y="1477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67271" y="990600"/>
            <a:ext cx="2417222" cy="82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2"/>
              </a:lnSpc>
            </a:pPr>
            <a:r>
              <a:rPr lang="en-US" sz="2401">
                <a:solidFill>
                  <a:srgbClr val="707070"/>
                </a:solidFill>
                <a:latin typeface="Open Sauce"/>
                <a:ea typeface="Open Sauce"/>
                <a:cs typeface="Open Sauce"/>
                <a:sym typeface="Open Sauce"/>
              </a:rPr>
              <a:t>PALACIO DE HIERRO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7975" y="2193974"/>
            <a:ext cx="8723007" cy="766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67" spc="-23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1) Acción recomendada:  Implementar estrategias para aumentar el valor promedio por compra, ejemplo: 2x1, Envió gratis en compras mayores a 1,500$, Productos de cortesía para comprar mayores a $ 3,000</a:t>
            </a:r>
          </a:p>
          <a:p>
            <a:pPr algn="l">
              <a:lnSpc>
                <a:spcPts val="4714"/>
              </a:lnSpc>
            </a:pPr>
          </a:p>
          <a:p>
            <a:pPr algn="l">
              <a:lnSpc>
                <a:spcPts val="4714"/>
              </a:lnSpc>
            </a:pPr>
            <a:r>
              <a:rPr lang="en-US" sz="3367" spc="-23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Impacto: Aumento de los ingresos totales y una mayor rentabilidad por transacción.</a:t>
            </a:r>
          </a:p>
          <a:p>
            <a:pPr algn="l">
              <a:lnSpc>
                <a:spcPts val="4714"/>
              </a:lnSpc>
            </a:pPr>
          </a:p>
          <a:p>
            <a:pPr algn="l">
              <a:lnSpc>
                <a:spcPts val="4714"/>
              </a:lnSpc>
            </a:pPr>
          </a:p>
          <a:p>
            <a:pPr algn="l">
              <a:lnSpc>
                <a:spcPts val="4714"/>
              </a:lnSpc>
            </a:pPr>
            <a:r>
              <a:rPr lang="en-US" sz="3367" spc="-23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Medición resultado:</a:t>
            </a:r>
          </a:p>
          <a:p>
            <a:pPr algn="l">
              <a:lnSpc>
                <a:spcPts val="4714"/>
              </a:lnSpc>
            </a:pPr>
            <a:r>
              <a:rPr lang="en-US" sz="3367" spc="-23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Ticket promedio semanal</a:t>
            </a:r>
          </a:p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debe se ir aumentando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4343" y="2193974"/>
            <a:ext cx="6719001" cy="707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67" spc="-23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2) Acción recomendada: Auditoría operativa del canal Marketplace  semanal</a:t>
            </a:r>
          </a:p>
          <a:p>
            <a:pPr algn="l">
              <a:lnSpc>
                <a:spcPts val="4714"/>
              </a:lnSpc>
            </a:pPr>
          </a:p>
          <a:p>
            <a:pPr algn="l">
              <a:lnSpc>
                <a:spcPts val="4714"/>
              </a:lnSpc>
            </a:pPr>
            <a:r>
              <a:rPr lang="en-US" sz="3367" spc="-235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Impacto:  Menos ingreso perdido por cancelaciones y menos costo operativo de procesar y revertir órdenes</a:t>
            </a:r>
          </a:p>
          <a:p>
            <a:pPr algn="l">
              <a:lnSpc>
                <a:spcPts val="4714"/>
              </a:lnSpc>
            </a:pPr>
          </a:p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Medición resultado: Tasa de cancelación semanal por canal debe disminuir por semana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58" y="-698443"/>
            <a:ext cx="1396886" cy="139688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83507" y="6311028"/>
            <a:ext cx="1396886" cy="139688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7194" y="9528902"/>
            <a:ext cx="2843208" cy="28432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883433" y="4489895"/>
            <a:ext cx="1766866" cy="969568"/>
          </a:xfrm>
          <a:custGeom>
            <a:avLst/>
            <a:gdLst/>
            <a:ahLst/>
            <a:cxnLst/>
            <a:rect r="r" b="b" t="t" l="l"/>
            <a:pathLst>
              <a:path h="969568" w="1766866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8597549" y="7890083"/>
            <a:ext cx="1766866" cy="969568"/>
          </a:xfrm>
          <a:custGeom>
            <a:avLst/>
            <a:gdLst/>
            <a:ahLst/>
            <a:cxnLst/>
            <a:rect r="r" b="b" t="t" l="l"/>
            <a:pathLst>
              <a:path h="969568" w="1766866">
                <a:moveTo>
                  <a:pt x="0" y="0"/>
                </a:moveTo>
                <a:lnTo>
                  <a:pt x="1766867" y="0"/>
                </a:lnTo>
                <a:lnTo>
                  <a:pt x="1766867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645944" y="-1278586"/>
            <a:ext cx="3352813" cy="12844173"/>
            <a:chOff x="0" y="0"/>
            <a:chExt cx="883046" cy="33828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3046" cy="3382827"/>
            </a:xfrm>
            <a:custGeom>
              <a:avLst/>
              <a:gdLst/>
              <a:ahLst/>
              <a:cxnLst/>
              <a:rect r="r" b="b" t="t" l="l"/>
              <a:pathLst>
                <a:path h="3382827" w="883046">
                  <a:moveTo>
                    <a:pt x="117763" y="0"/>
                  </a:moveTo>
                  <a:lnTo>
                    <a:pt x="765282" y="0"/>
                  </a:lnTo>
                  <a:cubicBezTo>
                    <a:pt x="830321" y="0"/>
                    <a:pt x="883046" y="52724"/>
                    <a:pt x="883046" y="117763"/>
                  </a:cubicBezTo>
                  <a:lnTo>
                    <a:pt x="883046" y="3265064"/>
                  </a:lnTo>
                  <a:cubicBezTo>
                    <a:pt x="883046" y="3296297"/>
                    <a:pt x="870638" y="3326250"/>
                    <a:pt x="848554" y="3348335"/>
                  </a:cubicBezTo>
                  <a:cubicBezTo>
                    <a:pt x="826469" y="3370420"/>
                    <a:pt x="796515" y="3382827"/>
                    <a:pt x="765282" y="3382827"/>
                  </a:cubicBezTo>
                  <a:lnTo>
                    <a:pt x="117763" y="3382827"/>
                  </a:lnTo>
                  <a:cubicBezTo>
                    <a:pt x="52724" y="3382827"/>
                    <a:pt x="0" y="3330103"/>
                    <a:pt x="0" y="3265064"/>
                  </a:cubicBezTo>
                  <a:lnTo>
                    <a:pt x="0" y="117763"/>
                  </a:lnTo>
                  <a:cubicBezTo>
                    <a:pt x="0" y="52724"/>
                    <a:pt x="52724" y="0"/>
                    <a:pt x="117763" y="0"/>
                  </a:cubicBezTo>
                  <a:close/>
                </a:path>
              </a:pathLst>
            </a:custGeom>
            <a:solidFill>
              <a:srgbClr val="3972F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83046" cy="3420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449172" y="684491"/>
            <a:ext cx="2955744" cy="1477872"/>
          </a:xfrm>
          <a:custGeom>
            <a:avLst/>
            <a:gdLst/>
            <a:ahLst/>
            <a:cxnLst/>
            <a:rect r="r" b="b" t="t" l="l"/>
            <a:pathLst>
              <a:path h="1477872" w="2955744">
                <a:moveTo>
                  <a:pt x="0" y="0"/>
                </a:moveTo>
                <a:lnTo>
                  <a:pt x="2955744" y="0"/>
                </a:lnTo>
                <a:lnTo>
                  <a:pt x="2955744" y="1477872"/>
                </a:lnTo>
                <a:lnTo>
                  <a:pt x="0" y="1477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67271" y="990600"/>
            <a:ext cx="2417222" cy="82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2"/>
              </a:lnSpc>
            </a:pPr>
            <a:r>
              <a:rPr lang="en-US" sz="2401">
                <a:solidFill>
                  <a:srgbClr val="707070"/>
                </a:solidFill>
                <a:latin typeface="Open Sauce"/>
                <a:ea typeface="Open Sauce"/>
                <a:cs typeface="Open Sauce"/>
                <a:sym typeface="Open Sauce"/>
              </a:rPr>
              <a:t>PALACIO DE HIERRO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7986" y="2264558"/>
            <a:ext cx="6273031" cy="530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KPI pri</a:t>
            </a: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ncipal: Ingreso Neto Semanal</a:t>
            </a:r>
          </a:p>
          <a:p>
            <a:pPr algn="l" marL="0" indent="0" lvl="0">
              <a:lnSpc>
                <a:spcPts val="4714"/>
              </a:lnSpc>
            </a:pPr>
          </a:p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 trata del monto total de ingresos obtenidos por semana y debe ser monitoreado por que es el indicador mas importante para reflejar el estado de nuestro negocio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12999" y="2104780"/>
            <a:ext cx="4964854" cy="648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Limitación </a:t>
            </a: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del análisis </a:t>
            </a:r>
          </a:p>
          <a:p>
            <a:pPr algn="l" marL="0" indent="0" lvl="0">
              <a:lnSpc>
                <a:spcPts val="4714"/>
              </a:lnSpc>
            </a:pPr>
          </a:p>
          <a:p>
            <a:pPr algn="l" marL="0" indent="0" lvl="0">
              <a:lnSpc>
                <a:spcPts val="4714"/>
              </a:lnSpc>
            </a:pPr>
            <a:r>
              <a:rPr lang="en-US" b="true" sz="3367" spc="-2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se tiene mas contexto sobre las ordenes que fueron canceladas o devueltas por tanto las recomendaciones realizadas si bien son utilidades podrían ser mas precisas al tener mas contexto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DAHRKHvZAPI</dc:identifier>
  <dcterms:modified xsi:type="dcterms:W3CDTF">2011-08-01T06:04:30Z</dcterms:modified>
  <cp:revision>1</cp:revision>
  <dc:title>KPI principal</dc:title>
</cp:coreProperties>
</file>